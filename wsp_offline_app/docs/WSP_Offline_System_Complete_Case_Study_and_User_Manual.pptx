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6e70da6874254" /><Relationship Type="http://schemas.openxmlformats.org/officeDocument/2006/relationships/extended-properties" Target="/docProps/app.xml" Id="R305342f679344fc8" /><Relationship Type="http://schemas.openxmlformats.org/officeDocument/2006/relationships/officeDocument" Target="/ppt/presentation.xml" Id="R6399f4794a76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8c367323104224"/>
  </p:sldMasterIdLst>
  <p:notesMasterIdLst>
    <p:notesMasterId xmlns:r="http://schemas.openxmlformats.org/officeDocument/2006/relationships" r:id="R1ba8a169090e4b0a"/>
  </p:notesMasterIdLst>
  <p:sldIdLst>
    <p:sldId xmlns:r="http://schemas.openxmlformats.org/officeDocument/2006/relationships" id="256" r:id="R24703ffb81c64b4d"/>
    <p:sldId xmlns:r="http://schemas.openxmlformats.org/officeDocument/2006/relationships" id="257" r:id="R1cd9f169dfba4e81"/>
    <p:sldId xmlns:r="http://schemas.openxmlformats.org/officeDocument/2006/relationships" id="258" r:id="Rbe3b1ba7ee654266"/>
    <p:sldId xmlns:r="http://schemas.openxmlformats.org/officeDocument/2006/relationships" id="259" r:id="R3fe753dd3064472f"/>
    <p:sldId xmlns:r="http://schemas.openxmlformats.org/officeDocument/2006/relationships" id="260" r:id="R6e278ee8bdb24da2"/>
    <p:sldId xmlns:r="http://schemas.openxmlformats.org/officeDocument/2006/relationships" id="261" r:id="Rb5f72547f9f74cd9"/>
    <p:sldId xmlns:r="http://schemas.openxmlformats.org/officeDocument/2006/relationships" id="262" r:id="R80780818f8a94e35"/>
    <p:sldId xmlns:r="http://schemas.openxmlformats.org/officeDocument/2006/relationships" id="263" r:id="R96e2a61d2c6440b7"/>
    <p:sldId xmlns:r="http://schemas.openxmlformats.org/officeDocument/2006/relationships" id="264" r:id="Rf41293679fc74590"/>
    <p:sldId xmlns:r="http://schemas.openxmlformats.org/officeDocument/2006/relationships" id="265" r:id="Rfec957cc60244370"/>
    <p:sldId xmlns:r="http://schemas.openxmlformats.org/officeDocument/2006/relationships" id="266" r:id="R771d79e6331e4481"/>
    <p:sldId xmlns:r="http://schemas.openxmlformats.org/officeDocument/2006/relationships" id="267" r:id="R2835efad2030480e"/>
    <p:sldId xmlns:r="http://schemas.openxmlformats.org/officeDocument/2006/relationships" id="268" r:id="R9771153718044e35"/>
    <p:sldId xmlns:r="http://schemas.openxmlformats.org/officeDocument/2006/relationships" id="269" r:id="R4b90900f1b924d8e"/>
    <p:sldId xmlns:r="http://schemas.openxmlformats.org/officeDocument/2006/relationships" id="270" r:id="R811c4042c26e4173"/>
    <p:sldId xmlns:r="http://schemas.openxmlformats.org/officeDocument/2006/relationships" id="271" r:id="R19bcd8f0bfcd4c79"/>
    <p:sldId xmlns:r="http://schemas.openxmlformats.org/officeDocument/2006/relationships" id="272" r:id="Raaea1669f9624f46"/>
    <p:sldId xmlns:r="http://schemas.openxmlformats.org/officeDocument/2006/relationships" id="273" r:id="R0f53bd64dfed49e6"/>
    <p:sldId xmlns:r="http://schemas.openxmlformats.org/officeDocument/2006/relationships" id="274" r:id="R29c8ad8e254543df"/>
    <p:sldId xmlns:r="http://schemas.openxmlformats.org/officeDocument/2006/relationships" id="275" r:id="R879b6b86674c487b"/>
    <p:sldId xmlns:r="http://schemas.openxmlformats.org/officeDocument/2006/relationships" id="276" r:id="R6013ff4d42264077"/>
    <p:sldId xmlns:r="http://schemas.openxmlformats.org/officeDocument/2006/relationships" id="277" r:id="Rbce42cc8da3947ee"/>
    <p:sldId xmlns:r="http://schemas.openxmlformats.org/officeDocument/2006/relationships" id="278" r:id="R281bc6dc6c7a4d05"/>
    <p:sldId xmlns:r="http://schemas.openxmlformats.org/officeDocument/2006/relationships" id="279" r:id="R76f9bdd067fc41de"/>
    <p:sldId xmlns:r="http://schemas.openxmlformats.org/officeDocument/2006/relationships" id="280" r:id="R074e0a656bd34aca"/>
    <p:sldId xmlns:r="http://schemas.openxmlformats.org/officeDocument/2006/relationships" id="281" r:id="R6171ed5f6493470f"/>
    <p:sldId xmlns:r="http://schemas.openxmlformats.org/officeDocument/2006/relationships" id="282" r:id="R610f2f7211f74b56"/>
    <p:sldId xmlns:r="http://schemas.openxmlformats.org/officeDocument/2006/relationships" id="283" r:id="R543a0305e01947ed"/>
    <p:sldId xmlns:r="http://schemas.openxmlformats.org/officeDocument/2006/relationships" id="284" r:id="R1f6be00639df471d"/>
    <p:sldId xmlns:r="http://schemas.openxmlformats.org/officeDocument/2006/relationships" id="285" r:id="R17b1cb32256c42b3"/>
    <p:sldId xmlns:r="http://schemas.openxmlformats.org/officeDocument/2006/relationships" id="286" r:id="R4fa31f0d2a7c4055"/>
    <p:sldId xmlns:r="http://schemas.openxmlformats.org/officeDocument/2006/relationships" id="287" r:id="R1fdf1bf7dbb84e0a"/>
    <p:sldId xmlns:r="http://schemas.openxmlformats.org/officeDocument/2006/relationships" id="288" r:id="R0b2a0dd7e1df48b6"/>
    <p:sldId xmlns:r="http://schemas.openxmlformats.org/officeDocument/2006/relationships" id="289" r:id="R67169d455c7f4e0e"/>
    <p:sldId xmlns:r="http://schemas.openxmlformats.org/officeDocument/2006/relationships" id="290" r:id="R4291aa70b8804065"/>
    <p:sldId xmlns:r="http://schemas.openxmlformats.org/officeDocument/2006/relationships" id="291" r:id="R58b5dfbe781a4d99"/>
    <p:sldId xmlns:r="http://schemas.openxmlformats.org/officeDocument/2006/relationships" id="292" r:id="R76d70bf24c7a4efe"/>
    <p:sldId xmlns:r="http://schemas.openxmlformats.org/officeDocument/2006/relationships" id="293" r:id="R93e0325a3cfe49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8627480b04946" /><Relationship Type="http://schemas.openxmlformats.org/officeDocument/2006/relationships/slideMaster" Target="/ppt/slideMasters/slideMaster1.xml" Id="R818c367323104224" /><Relationship Type="http://schemas.openxmlformats.org/officeDocument/2006/relationships/notesMaster" Target="/ppt/notesMasters/notesMaster1.xml" Id="R1ba8a169090e4b0a" /><Relationship Type="http://schemas.openxmlformats.org/officeDocument/2006/relationships/presProps" Target="/ppt/presProps.xml" Id="R664bd8d172d74096" /><Relationship Type="http://schemas.openxmlformats.org/officeDocument/2006/relationships/tableStyles" Target="/ppt/tableStyles.xml" Id="Rd46b26aaaeeb4e96" /><Relationship Type="http://schemas.openxmlformats.org/officeDocument/2006/relationships/slide" Target="/ppt/slides/slide1.xml" Id="R24703ffb81c64b4d" /><Relationship Type="http://schemas.openxmlformats.org/officeDocument/2006/relationships/slide" Target="/ppt/slides/slide2.xml" Id="R1cd9f169dfba4e81" /><Relationship Type="http://schemas.openxmlformats.org/officeDocument/2006/relationships/slide" Target="/ppt/slides/slide3.xml" Id="Rbe3b1ba7ee654266" /><Relationship Type="http://schemas.openxmlformats.org/officeDocument/2006/relationships/slide" Target="/ppt/slides/slide4.xml" Id="R3fe753dd3064472f" /><Relationship Type="http://schemas.openxmlformats.org/officeDocument/2006/relationships/slide" Target="/ppt/slides/slide5.xml" Id="R6e278ee8bdb24da2" /><Relationship Type="http://schemas.openxmlformats.org/officeDocument/2006/relationships/slide" Target="/ppt/slides/slide6.xml" Id="Rb5f72547f9f74cd9" /><Relationship Type="http://schemas.openxmlformats.org/officeDocument/2006/relationships/slide" Target="/ppt/slides/slide7.xml" Id="R80780818f8a94e35" /><Relationship Type="http://schemas.openxmlformats.org/officeDocument/2006/relationships/slide" Target="/ppt/slides/slide8.xml" Id="R96e2a61d2c6440b7" /><Relationship Type="http://schemas.openxmlformats.org/officeDocument/2006/relationships/slide" Target="/ppt/slides/slide9.xml" Id="Rf41293679fc74590" /><Relationship Type="http://schemas.openxmlformats.org/officeDocument/2006/relationships/slide" Target="/ppt/slides/slide10.xml" Id="Rfec957cc60244370" /><Relationship Type="http://schemas.openxmlformats.org/officeDocument/2006/relationships/slide" Target="/ppt/slides/slide11.xml" Id="R771d79e6331e4481" /><Relationship Type="http://schemas.openxmlformats.org/officeDocument/2006/relationships/slide" Target="/ppt/slides/slide12.xml" Id="R2835efad2030480e" /><Relationship Type="http://schemas.openxmlformats.org/officeDocument/2006/relationships/slide" Target="/ppt/slides/slide13.xml" Id="R9771153718044e35" /><Relationship Type="http://schemas.openxmlformats.org/officeDocument/2006/relationships/slide" Target="/ppt/slides/slide14.xml" Id="R4b90900f1b924d8e" /><Relationship Type="http://schemas.openxmlformats.org/officeDocument/2006/relationships/slide" Target="/ppt/slides/slide15.xml" Id="R811c4042c26e4173" /><Relationship Type="http://schemas.openxmlformats.org/officeDocument/2006/relationships/slide" Target="/ppt/slides/slide16.xml" Id="R19bcd8f0bfcd4c79" /><Relationship Type="http://schemas.openxmlformats.org/officeDocument/2006/relationships/slide" Target="/ppt/slides/slide17.xml" Id="Raaea1669f9624f46" /><Relationship Type="http://schemas.openxmlformats.org/officeDocument/2006/relationships/slide" Target="/ppt/slides/slide18.xml" Id="R0f53bd64dfed49e6" /><Relationship Type="http://schemas.openxmlformats.org/officeDocument/2006/relationships/slide" Target="/ppt/slides/slide19.xml" Id="R29c8ad8e254543df" /><Relationship Type="http://schemas.openxmlformats.org/officeDocument/2006/relationships/slide" Target="/ppt/slides/slide20.xml" Id="R879b6b86674c487b" /><Relationship Type="http://schemas.openxmlformats.org/officeDocument/2006/relationships/slide" Target="/ppt/slides/slide21.xml" Id="R6013ff4d42264077" /><Relationship Type="http://schemas.openxmlformats.org/officeDocument/2006/relationships/slide" Target="/ppt/slides/slide22.xml" Id="Rbce42cc8da3947ee" /><Relationship Type="http://schemas.openxmlformats.org/officeDocument/2006/relationships/slide" Target="/ppt/slides/slide23.xml" Id="R281bc6dc6c7a4d05" /><Relationship Type="http://schemas.openxmlformats.org/officeDocument/2006/relationships/slide" Target="/ppt/slides/slide24.xml" Id="R76f9bdd067fc41de" /><Relationship Type="http://schemas.openxmlformats.org/officeDocument/2006/relationships/slide" Target="/ppt/slides/slide25.xml" Id="R074e0a656bd34aca" /><Relationship Type="http://schemas.openxmlformats.org/officeDocument/2006/relationships/slide" Target="/ppt/slides/slide26.xml" Id="R6171ed5f6493470f" /><Relationship Type="http://schemas.openxmlformats.org/officeDocument/2006/relationships/slide" Target="/ppt/slides/slide27.xml" Id="R610f2f7211f74b56" /><Relationship Type="http://schemas.openxmlformats.org/officeDocument/2006/relationships/slide" Target="/ppt/slides/slide28.xml" Id="R543a0305e01947ed" /><Relationship Type="http://schemas.openxmlformats.org/officeDocument/2006/relationships/slide" Target="/ppt/slides/slide29.xml" Id="R1f6be00639df471d" /><Relationship Type="http://schemas.openxmlformats.org/officeDocument/2006/relationships/slide" Target="/ppt/slides/slide30.xml" Id="R17b1cb32256c42b3" /><Relationship Type="http://schemas.openxmlformats.org/officeDocument/2006/relationships/slide" Target="/ppt/slides/slide31.xml" Id="R4fa31f0d2a7c4055" /><Relationship Type="http://schemas.openxmlformats.org/officeDocument/2006/relationships/slide" Target="/ppt/slides/slide32.xml" Id="R1fdf1bf7dbb84e0a" /><Relationship Type="http://schemas.openxmlformats.org/officeDocument/2006/relationships/slide" Target="/ppt/slides/slide33.xml" Id="R0b2a0dd7e1df48b6" /><Relationship Type="http://schemas.openxmlformats.org/officeDocument/2006/relationships/slide" Target="/ppt/slides/slide34.xml" Id="R67169d455c7f4e0e" /><Relationship Type="http://schemas.openxmlformats.org/officeDocument/2006/relationships/slide" Target="/ppt/slides/slide35.xml" Id="R4291aa70b8804065" /><Relationship Type="http://schemas.openxmlformats.org/officeDocument/2006/relationships/slide" Target="/ppt/slides/slide36.xml" Id="R58b5dfbe781a4d99" /><Relationship Type="http://schemas.openxmlformats.org/officeDocument/2006/relationships/slide" Target="/ppt/slides/slide37.xml" Id="R76d70bf24c7a4efe" /><Relationship Type="http://schemas.openxmlformats.org/officeDocument/2006/relationships/slide" Target="/ppt/slides/slide38.xml" Id="R93e0325a3cfe49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4351bc9bef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B Work Study">
      <a:dk1>
        <a:srgbClr val="0F172A"/>
      </a:dk1>
      <a:lt1>
        <a:srgbClr val="FFFFFF"/>
      </a:lt1>
      <a:dk2>
        <a:srgbClr val="152238"/>
      </a:dk2>
      <a:lt2>
        <a:srgbClr val="D9E0E8"/>
      </a:lt2>
      <a:accent1>
        <a:srgbClr val="8A1538"/>
      </a:accent1>
      <a:accent2>
        <a:srgbClr val="152238"/>
      </a:accent2>
      <a:accent3>
        <a:srgbClr val="1E9E74"/>
      </a:accent3>
      <a:accent4>
        <a:srgbClr val="D79022"/>
      </a:accent4>
      <a:accent5>
        <a:srgbClr val="3873B9"/>
      </a:accent5>
      <a:accent6>
        <a:srgbClr val="A6194B"/>
      </a:accent6>
      <a:hlink>
        <a:srgbClr val="3873B9"/>
      </a:hlink>
      <a:folHlink>
        <a:srgbClr val="A6194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B Work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822c95179c4e36" /><Relationship Type="http://schemas.openxmlformats.org/officeDocument/2006/relationships/notesMaster" Target="/ppt/notesMasters/notesMaster1.xml" Id="R71fd8ffc4da341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01dd36eb774927" /><Relationship Type="http://schemas.openxmlformats.org/officeDocument/2006/relationships/notesMaster" Target="/ppt/notesMasters/notesMaster1.xml" Id="R50156c98cef042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5102d3c5d467d" /><Relationship Type="http://schemas.openxmlformats.org/officeDocument/2006/relationships/notesMaster" Target="/ppt/notesMasters/notesMaster1.xml" Id="Rf557c60c444b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9312bab5a4c2a" /><Relationship Type="http://schemas.openxmlformats.org/officeDocument/2006/relationships/notesMaster" Target="/ppt/notesMasters/notesMaster1.xml" Id="Ra0c2dc9b9428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4aecaaa14413c" /><Relationship Type="http://schemas.openxmlformats.org/officeDocument/2006/relationships/notesMaster" Target="/ppt/notesMasters/notesMaster1.xml" Id="Ref0ae46a0fba40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6153df51bd4f65" /><Relationship Type="http://schemas.openxmlformats.org/officeDocument/2006/relationships/notesMaster" Target="/ppt/notesMasters/notesMaster1.xml" Id="Rf4a297f81a5d45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ae17fd9a294694" /><Relationship Type="http://schemas.openxmlformats.org/officeDocument/2006/relationships/notesMaster" Target="/ppt/notesMasters/notesMaster1.xml" Id="Rdab9d8a64426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796cae3f21481a" /><Relationship Type="http://schemas.openxmlformats.org/officeDocument/2006/relationships/notesMaster" Target="/ppt/notesMasters/notesMaster1.xml" Id="R1e5e1c6f6fdb45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b7850dcb274da3" /><Relationship Type="http://schemas.openxmlformats.org/officeDocument/2006/relationships/notesMaster" Target="/ppt/notesMasters/notesMaster1.xml" Id="R9a0ca60dfdbf4a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c83afe2044d0a" /><Relationship Type="http://schemas.openxmlformats.org/officeDocument/2006/relationships/notesMaster" Target="/ppt/notesMasters/notesMaster1.xml" Id="Rfd8352262ade4d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d6c63ac399479f" /><Relationship Type="http://schemas.openxmlformats.org/officeDocument/2006/relationships/notesMaster" Target="/ppt/notesMasters/notesMaster1.xml" Id="R18a799e3fa514f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1ae218e31b45ee" /><Relationship Type="http://schemas.openxmlformats.org/officeDocument/2006/relationships/notesMaster" Target="/ppt/notesMasters/notesMaster1.xml" Id="Rf416f136b1e049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6236a6ceeb4931" /><Relationship Type="http://schemas.openxmlformats.org/officeDocument/2006/relationships/notesMaster" Target="/ppt/notesMasters/notesMaster1.xml" Id="R89533c27fec74b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aec69190dc425b" /><Relationship Type="http://schemas.openxmlformats.org/officeDocument/2006/relationships/notesMaster" Target="/ppt/notesMasters/notesMaster1.xml" Id="R045f97820b7d4f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c759d80932478e" /><Relationship Type="http://schemas.openxmlformats.org/officeDocument/2006/relationships/notesMaster" Target="/ppt/notesMasters/notesMaster1.xml" Id="R2a3ea447fd224e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2c7b1c832a49f0" /><Relationship Type="http://schemas.openxmlformats.org/officeDocument/2006/relationships/notesMaster" Target="/ppt/notesMasters/notesMaster1.xml" Id="R879977c0e0d544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2b94f12cf848b4" /><Relationship Type="http://schemas.openxmlformats.org/officeDocument/2006/relationships/notesMaster" Target="/ppt/notesMasters/notesMaster1.xml" Id="R4e83f0806ca140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9dc9abe0c74d75" /><Relationship Type="http://schemas.openxmlformats.org/officeDocument/2006/relationships/notesMaster" Target="/ppt/notesMasters/notesMaster1.xml" Id="Rbfccfdbf933d46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85793ffd64468c" /><Relationship Type="http://schemas.openxmlformats.org/officeDocument/2006/relationships/notesMaster" Target="/ppt/notesMasters/notesMaster1.xml" Id="Rbe5481f704c248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46929d51814699" /><Relationship Type="http://schemas.openxmlformats.org/officeDocument/2006/relationships/notesMaster" Target="/ppt/notesMasters/notesMaster1.xml" Id="R10f5633620d245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ec31d6ad9c4dc1" /><Relationship Type="http://schemas.openxmlformats.org/officeDocument/2006/relationships/notesMaster" Target="/ppt/notesMasters/notesMaster1.xml" Id="Re3384cc5cc2f43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7a8757d7444a48" /><Relationship Type="http://schemas.openxmlformats.org/officeDocument/2006/relationships/notesMaster" Target="/ppt/notesMasters/notesMaster1.xml" Id="Rfa7e708e62f048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ac1e61746941a8" /><Relationship Type="http://schemas.openxmlformats.org/officeDocument/2006/relationships/notesMaster" Target="/ppt/notesMasters/notesMaster1.xml" Id="Ra6acb609926a489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89c95277c7492d" /><Relationship Type="http://schemas.openxmlformats.org/officeDocument/2006/relationships/notesMaster" Target="/ppt/notesMasters/notesMaster1.xml" Id="R6e364e9eab5941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2b60ca5da743a8" /><Relationship Type="http://schemas.openxmlformats.org/officeDocument/2006/relationships/notesMaster" Target="/ppt/notesMasters/notesMaster1.xml" Id="R32b7143d4eed49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ad1d4cd5364fb6" /><Relationship Type="http://schemas.openxmlformats.org/officeDocument/2006/relationships/notesMaster" Target="/ppt/notesMasters/notesMaster1.xml" Id="R67930f67b5fc40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2055171e11a495a" /><Relationship Type="http://schemas.openxmlformats.org/officeDocument/2006/relationships/notesMaster" Target="/ppt/notesMasters/notesMaster1.xml" Id="R90a25be7e2b443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de0119cf644e4b" /><Relationship Type="http://schemas.openxmlformats.org/officeDocument/2006/relationships/notesMaster" Target="/ppt/notesMasters/notesMaster1.xml" Id="Rd738f1aa97b149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64f53b02ab84ed5" /><Relationship Type="http://schemas.openxmlformats.org/officeDocument/2006/relationships/notesMaster" Target="/ppt/notesMasters/notesMaster1.xml" Id="Red8805f83c574a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2f7913ecf604f58" /><Relationship Type="http://schemas.openxmlformats.org/officeDocument/2006/relationships/notesMaster" Target="/ppt/notesMasters/notesMaster1.xml" Id="R32bb7a60623444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33bdec4e054355" /><Relationship Type="http://schemas.openxmlformats.org/officeDocument/2006/relationships/notesMaster" Target="/ppt/notesMasters/notesMaster1.xml" Id="R60de9b79754d43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c06520be8234cce" /><Relationship Type="http://schemas.openxmlformats.org/officeDocument/2006/relationships/notesMaster" Target="/ppt/notesMasters/notesMaster1.xml" Id="R9099d108e639493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9f5df206fd484a" /><Relationship Type="http://schemas.openxmlformats.org/officeDocument/2006/relationships/notesMaster" Target="/ppt/notesMasters/notesMaster1.xml" Id="R24ce464705ba411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2ae33e964d94408" /><Relationship Type="http://schemas.openxmlformats.org/officeDocument/2006/relationships/notesMaster" Target="/ppt/notesMasters/notesMaster1.xml" Id="Re3e9cf542953475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5fcabadaf1477e" /><Relationship Type="http://schemas.openxmlformats.org/officeDocument/2006/relationships/notesMaster" Target="/ppt/notesMasters/notesMaster1.xml" Id="R9b5853bca684406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79219e60a0e4f1b" /><Relationship Type="http://schemas.openxmlformats.org/officeDocument/2006/relationships/notesMaster" Target="/ppt/notesMasters/notesMaster1.xml" Id="R2116ebb068834d4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4455929a94849cb" /><Relationship Type="http://schemas.openxmlformats.org/officeDocument/2006/relationships/notesMaster" Target="/ppt/notesMasters/notesMaster1.xml" Id="R2c0a3e78d59543c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b338c0d1a4a47f6" /><Relationship Type="http://schemas.openxmlformats.org/officeDocument/2006/relationships/notesMaster" Target="/ppt/notesMasters/notesMaster1.xml" Id="Rfe954bb48b7940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product is installed software with a browser-based local interface, not a cloud portal.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live application and repository, reviewed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http://127.0.0.1:8080/?view=quality,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http://127.0.0.1:8080/?faculty=FAS&amp;view=quality,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http://127.0.0.1:8080/?view=pool,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http://127.0.0.1:8080/?view=skills,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http://127.0.0.1:8080/?view=funding,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http://127.0.0.1:8080/?view=quality,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http://127.0.0.1:8080/filters,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http://127.0.0.1:8080/filters,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http://127.0.0.1:8080/filters,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http://127.0.0.1:8080/excel-sheets,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http://127.0.0.1:8080/excel-sheets,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http://127.0.0.1:8080/excel-sheets,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http://127.0.0.1:8080/student-profile,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http://127.0.0.1:8080/student-profile/205098,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http://127.0.0.1:8080/student-profile/205098,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http://127.0.0.1:8080/import,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http://127.0.0.1:8080/import,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http://127.0.0.1:8080/import,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http://127.0.0.1:8080/system-status,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http://127.0.0.1:8080/system-status,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arrows to walk through the visible controls and their operational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live UI, http://127.0.0.1:8080/system-status, captured 2026-08-17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an end-to-end software flow implemented by the documented modules and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summary grounded in the local implementation and user-facing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integrated value: local privacy, explainable matching, safe operations, and documented maintainability.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WSP Offline System source code and generated documentation</a:t>
            </a:r>
          </a:p>
          <a:p xmlns:a="http://schemas.openxmlformats.org/drawingml/2006/main">
            <a:r>
              <a:t>- WSP Offline System repository, C:/Users/Salam/Documents/WSP/wsp_offline_app, reviewed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9b31cfdd6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41a7475423473f" /><Relationship Type="http://schemas.openxmlformats.org/officeDocument/2006/relationships/slideLayout" Target="/ppt/slideLayouts/slideLayout1.xml" Id="R7c74d4fbbe23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74d4fbbe23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B Work Study">
      <a:dk1>
        <a:srgbClr val="0F172A"/>
      </a:dk1>
      <a:lt1>
        <a:srgbClr val="FFFFFF"/>
      </a:lt1>
      <a:dk2>
        <a:srgbClr val="152238"/>
      </a:dk2>
      <a:lt2>
        <a:srgbClr val="D9E0E8"/>
      </a:lt2>
      <a:accent1>
        <a:srgbClr val="8A1538"/>
      </a:accent1>
      <a:accent2>
        <a:srgbClr val="152238"/>
      </a:accent2>
      <a:accent3>
        <a:srgbClr val="1E9E74"/>
      </a:accent3>
      <a:accent4>
        <a:srgbClr val="D79022"/>
      </a:accent4>
      <a:accent5>
        <a:srgbClr val="3873B9"/>
      </a:accent5>
      <a:accent6>
        <a:srgbClr val="A6194B"/>
      </a:accent6>
      <a:hlink>
        <a:srgbClr val="3873B9"/>
      </a:hlink>
      <a:folHlink>
        <a:srgbClr val="A6194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B Work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ddd4311224854" /><Relationship Type="http://schemas.openxmlformats.org/officeDocument/2006/relationships/notesSlide" Target="/ppt/notesSlides/notesSlide1.xml" Id="R6e4aab4bcbf0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b8f5e33b43ea" /><Relationship Type="http://schemas.openxmlformats.org/officeDocument/2006/relationships/notesSlide" Target="/ppt/notesSlides/notesSlide2.xml" Id="Re5edded6a4c9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d6dea1b2c4765" /><Relationship Type="http://schemas.openxmlformats.org/officeDocument/2006/relationships/notesSlide" Target="/ppt/notesSlides/notesSlide3.xml" Id="R2763d6bcd87740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7882968064b40" /><Relationship Type="http://schemas.openxmlformats.org/officeDocument/2006/relationships/notesSlide" Target="/ppt/notesSlides/notesSlide4.xml" Id="R1560fa07d375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32d8ecddb4d9c" /><Relationship Type="http://schemas.openxmlformats.org/officeDocument/2006/relationships/notesSlide" Target="/ppt/notesSlides/notesSlide5.xml" Id="Rfe1817c400ae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23fa3416e455f" /><Relationship Type="http://schemas.openxmlformats.org/officeDocument/2006/relationships/image" Target="/ppt/media/image.jpeg" Id="R18e1d70d80404a81" /><Relationship Type="http://schemas.openxmlformats.org/officeDocument/2006/relationships/notesSlide" Target="/ppt/notesSlides/notesSlide6.xml" Id="R282fb90177574f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370dc5ca4feb" /><Relationship Type="http://schemas.openxmlformats.org/officeDocument/2006/relationships/image" Target="/ppt/media/image2.jpeg" Id="Re3d39cdd72e84ab1" /><Relationship Type="http://schemas.openxmlformats.org/officeDocument/2006/relationships/notesSlide" Target="/ppt/notesSlides/notesSlide7.xml" Id="Recd63e23d4a3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fb3d7ca1d4bf3" /><Relationship Type="http://schemas.openxmlformats.org/officeDocument/2006/relationships/image" Target="/ppt/media/image3.jpeg" Id="R4cdb015ba6894279" /><Relationship Type="http://schemas.openxmlformats.org/officeDocument/2006/relationships/notesSlide" Target="/ppt/notesSlides/notesSlide8.xml" Id="R58be81867a084d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0b01c4fe40bf" /><Relationship Type="http://schemas.openxmlformats.org/officeDocument/2006/relationships/image" Target="/ppt/media/image4.jpeg" Id="R5af87046b3ba4eb0" /><Relationship Type="http://schemas.openxmlformats.org/officeDocument/2006/relationships/notesSlide" Target="/ppt/notesSlides/notesSlide9.xml" Id="Rab24a6666c9a49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fe568f01848fc" /><Relationship Type="http://schemas.openxmlformats.org/officeDocument/2006/relationships/image" Target="/ppt/media/image5.jpeg" Id="Rb3c5b3959ae248c9" /><Relationship Type="http://schemas.openxmlformats.org/officeDocument/2006/relationships/notesSlide" Target="/ppt/notesSlides/notesSlide10.xml" Id="R8fe1a50ad4d64e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7820cf0094406" /><Relationship Type="http://schemas.openxmlformats.org/officeDocument/2006/relationships/notesSlide" Target="/ppt/notesSlides/notesSlide11.xml" Id="R46a70010c94a49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b5142d0a347cc" /><Relationship Type="http://schemas.openxmlformats.org/officeDocument/2006/relationships/image" Target="/ppt/media/image6.jpeg" Id="R2f4f0425af7849d5" /><Relationship Type="http://schemas.openxmlformats.org/officeDocument/2006/relationships/notesSlide" Target="/ppt/notesSlides/notesSlide12.xml" Id="R03a2fdb1945f4e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d146554a74030" /><Relationship Type="http://schemas.openxmlformats.org/officeDocument/2006/relationships/image" Target="/ppt/media/image7.jpeg" Id="Rb09f6fc73cba48e6" /><Relationship Type="http://schemas.openxmlformats.org/officeDocument/2006/relationships/notesSlide" Target="/ppt/notesSlides/notesSlide13.xml" Id="Re475734c679945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e1c3b8cd24e29" /><Relationship Type="http://schemas.openxmlformats.org/officeDocument/2006/relationships/image" Target="/ppt/media/image8.jpeg" Id="Rdceef005ad9b4759" /><Relationship Type="http://schemas.openxmlformats.org/officeDocument/2006/relationships/notesSlide" Target="/ppt/notesSlides/notesSlide14.xml" Id="Rd885159a8af14d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589d5f9b4d04" /><Relationship Type="http://schemas.openxmlformats.org/officeDocument/2006/relationships/notesSlide" Target="/ppt/notesSlides/notesSlide15.xml" Id="R42caae867cc444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42909bbf741f0" /><Relationship Type="http://schemas.openxmlformats.org/officeDocument/2006/relationships/image" Target="/ppt/media/image9.jpeg" Id="Rd85669d62d394334" /><Relationship Type="http://schemas.openxmlformats.org/officeDocument/2006/relationships/notesSlide" Target="/ppt/notesSlides/notesSlide16.xml" Id="Rd8ac9c1a1ec845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6805407264c80" /><Relationship Type="http://schemas.openxmlformats.org/officeDocument/2006/relationships/image" Target="/ppt/media/image10.jpeg" Id="R755f4cb2c1e440b1" /><Relationship Type="http://schemas.openxmlformats.org/officeDocument/2006/relationships/notesSlide" Target="/ppt/notesSlides/notesSlide17.xml" Id="Rae19a7d7569642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1fc43567041e7" /><Relationship Type="http://schemas.openxmlformats.org/officeDocument/2006/relationships/notesSlide" Target="/ppt/notesSlides/notesSlide18.xml" Id="Rd5646ee3c85943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f1e4b572c42c9" /><Relationship Type="http://schemas.openxmlformats.org/officeDocument/2006/relationships/image" Target="/ppt/media/image11.jpeg" Id="Rf3d171426414481f" /><Relationship Type="http://schemas.openxmlformats.org/officeDocument/2006/relationships/notesSlide" Target="/ppt/notesSlides/notesSlide19.xml" Id="Rdfb46a7399b247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54441a16d4bca" /><Relationship Type="http://schemas.openxmlformats.org/officeDocument/2006/relationships/image" Target="/ppt/media/image12.jpeg" Id="Ra32e4748504f4a80" /><Relationship Type="http://schemas.openxmlformats.org/officeDocument/2006/relationships/notesSlide" Target="/ppt/notesSlides/notesSlide20.xml" Id="Rf0fd3b7c3ca848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1b5913cb3441f" /><Relationship Type="http://schemas.openxmlformats.org/officeDocument/2006/relationships/image" Target="/ppt/media/image13.jpeg" Id="R2c7b970aa4e64c05" /><Relationship Type="http://schemas.openxmlformats.org/officeDocument/2006/relationships/notesSlide" Target="/ppt/notesSlides/notesSlide21.xml" Id="Rce966e2615264b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a317921334d76" /><Relationship Type="http://schemas.openxmlformats.org/officeDocument/2006/relationships/image" Target="/ppt/media/image14.jpeg" Id="R8cb2e42044d74773" /><Relationship Type="http://schemas.openxmlformats.org/officeDocument/2006/relationships/notesSlide" Target="/ppt/notesSlides/notesSlide22.xml" Id="R520273fdc4f141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8597f5f954da6" /><Relationship Type="http://schemas.openxmlformats.org/officeDocument/2006/relationships/image" Target="/ppt/media/image15.jpeg" Id="R7466673a7e284b0f" /><Relationship Type="http://schemas.openxmlformats.org/officeDocument/2006/relationships/notesSlide" Target="/ppt/notesSlides/notesSlide23.xml" Id="R0506b9a16b6441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e686cad9e42f3" /><Relationship Type="http://schemas.openxmlformats.org/officeDocument/2006/relationships/image" Target="/ppt/media/image16.jpeg" Id="Ra0080f231cd2493f" /><Relationship Type="http://schemas.openxmlformats.org/officeDocument/2006/relationships/notesSlide" Target="/ppt/notesSlides/notesSlide24.xml" Id="R3688e01e3aa242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d0cef40c4c4e" /><Relationship Type="http://schemas.openxmlformats.org/officeDocument/2006/relationships/image" Target="/ppt/media/image17.jpeg" Id="R6de5851dae8541fb" /><Relationship Type="http://schemas.openxmlformats.org/officeDocument/2006/relationships/notesSlide" Target="/ppt/notesSlides/notesSlide25.xml" Id="R0c831dfa4ff94f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45934e2374989" /><Relationship Type="http://schemas.openxmlformats.org/officeDocument/2006/relationships/notesSlide" Target="/ppt/notesSlides/notesSlide26.xml" Id="R1a84879c7c3e43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ff9d7e7054199" /><Relationship Type="http://schemas.openxmlformats.org/officeDocument/2006/relationships/image" Target="/ppt/media/image18.jpeg" Id="R7f92bf76f2b74f44" /><Relationship Type="http://schemas.openxmlformats.org/officeDocument/2006/relationships/notesSlide" Target="/ppt/notesSlides/notesSlide27.xml" Id="Rdcf3bd8e81c746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a034bb5441f0" /><Relationship Type="http://schemas.openxmlformats.org/officeDocument/2006/relationships/notesSlide" Target="/ppt/notesSlides/notesSlide28.xml" Id="Ra9da3277868647b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b8a670a264ee5" /><Relationship Type="http://schemas.openxmlformats.org/officeDocument/2006/relationships/image" Target="/ppt/media/image19.jpeg" Id="R2367878d85874cb6" /><Relationship Type="http://schemas.openxmlformats.org/officeDocument/2006/relationships/notesSlide" Target="/ppt/notesSlides/notesSlide29.xml" Id="R4a409b226ace45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d62bb8764325" /><Relationship Type="http://schemas.openxmlformats.org/officeDocument/2006/relationships/notesSlide" Target="/ppt/notesSlides/notesSlide30.xml" Id="R2389866f17604bb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26719b5a245d6" /><Relationship Type="http://schemas.openxmlformats.org/officeDocument/2006/relationships/image" Target="/ppt/media/image20.jpeg" Id="Reb285a2e0a5f4aff" /><Relationship Type="http://schemas.openxmlformats.org/officeDocument/2006/relationships/notesSlide" Target="/ppt/notesSlides/notesSlide31.xml" Id="Rd4f4e928226041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9739ca4fd4a34" /><Relationship Type="http://schemas.openxmlformats.org/officeDocument/2006/relationships/image" Target="/ppt/media/image21.jpeg" Id="R1f9ff0dfdf504af0" /><Relationship Type="http://schemas.openxmlformats.org/officeDocument/2006/relationships/notesSlide" Target="/ppt/notesSlides/notesSlide32.xml" Id="R956c493a3aff4c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fa5de1c6248cd" /><Relationship Type="http://schemas.openxmlformats.org/officeDocument/2006/relationships/image" Target="/ppt/media/image22.jpeg" Id="Rab63bac85a8142be" /><Relationship Type="http://schemas.openxmlformats.org/officeDocument/2006/relationships/notesSlide" Target="/ppt/notesSlides/notesSlide33.xml" Id="R43b131e959214be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02883d79640a3" /><Relationship Type="http://schemas.openxmlformats.org/officeDocument/2006/relationships/notesSlide" Target="/ppt/notesSlides/notesSlide34.xml" Id="Rea3742d16d8b47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8c9051d3b43c3" /><Relationship Type="http://schemas.openxmlformats.org/officeDocument/2006/relationships/notesSlide" Target="/ppt/notesSlides/notesSlide35.xml" Id="R2cf5976e8b6d42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a2836444a4480" /><Relationship Type="http://schemas.openxmlformats.org/officeDocument/2006/relationships/notesSlide" Target="/ppt/notesSlides/notesSlide36.xml" Id="R40c462d2622944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8907671b74c43" /><Relationship Type="http://schemas.openxmlformats.org/officeDocument/2006/relationships/notesSlide" Target="/ppt/notesSlides/notesSlide37.xml" Id="R5301e383c35549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56a898a5248f7" /><Relationship Type="http://schemas.openxmlformats.org/officeDocument/2006/relationships/notesSlide" Target="/ppt/notesSlides/notesSlide38.xml" Id="R0f07465ff1e7490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52238"/>
            </a:gs>
            <a:gs pos="58000">
              <a:srgbClr val="1D2940"/>
            </a:gs>
            <a:gs pos="100000">
              <a:srgbClr val="4D1530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31731-6C3F-4B76-936C-06DE7A2B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COMPLETE SYSTEM GUIDE  ·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241CC-D400-4AED-8520-DACB68F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WSP Offline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2425D-8B0F-4B53-A0C3-612E703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E3EE"/>
                </a:solidFill>
              </a:defRPr>
            </a:pPr>
            <a:r>
              <a:rPr sz="1200" b="0" i="0">
                <a:solidFill>
                  <a:srgbClr val="DCE3EE"/>
                </a:solidFill>
              </a:rPr>
              <a:t>Case study · user manual · technical map · 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085D9-7E7A-410C-A0EE-EEB219D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A private, one-click student applicant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D517-0512-4F7C-BBA5-B414869A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CE3EE"/>
                </a:solidFill>
              </a:defRPr>
            </a:pPr>
            <a:r>
              <a:rPr sz="1650" b="0" i="0">
                <a:solidFill>
                  <a:srgbClr val="DCE3EE"/>
                </a:solidFill>
              </a:rPr>
              <a:t>Search, understand, compare, edit, import, protect, and audit the full work-study applicant pool — entirely on the local computer.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880B8-28F0-4108-BD2B-1F7FEA42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71462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3,000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ACTIVE APPLICANTS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100%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SEMANTIC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713A5-55F9-4040-AE4E-5E016DCD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CE3EE"/>
                </a:solidFill>
              </a:defRPr>
            </a:pPr>
            <a:r>
              <a:rPr sz="1050" b="0" i="0">
                <a:solidFill>
                  <a:srgbClr val="DCE3EE"/>
                </a:solidFill>
              </a:rPr>
              <a:t>Prepared 17 August 2026</a:t>
            </a:r>
          </a:p>
        </p:txBody>
      </p:sp>
    </p:spTree>
    <p:extLst>
      <p:ext uri="{BB962C8B-B14F-4D97-AF65-F5344CB8AC3E}">
        <p14:creationId xmlns:p14="http://schemas.microsoft.com/office/powerpoint/2010/main" val="140663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EF648-E8C9-4020-AA60-F0B39D3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457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CASE STUDY  ·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C6DFB-E5F9-4925-B272-67F29160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What the system solves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F66EF-4728-422F-AD72-737F7EF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One workspace replaces scattered spreadsheet browsing with an auditable applicant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75FC-063A-4C97-904A-95F2B369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E3C5F-4304-4199-8740-AFF45AA9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FIND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60B7-C296-4A84-BDA7-DBCDA07A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Find the right 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A2323-A968-4FEA-B404-36A97FC4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Combine precise database filters with semantic matching over untouched student answers.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9D8A4-6E05-4B0B-8E7A-85D875B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1D1BE-38EF-4BFF-8548-1340C043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FC3F3-4219-430B-BBB6-B5C8B69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See the whole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6153C-2FE9-4F99-A34D-E7E79502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Move from cohort patterns to a single student’s academics, skills, preferences, experience, and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967D1-7EAF-469E-82C8-91E32D2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94876-72FE-412B-B200-69F9B93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DE63C-F06F-4204-93EA-9BB2E18B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Operate safely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63FFA-CFB0-4C07-A465-5F0F452F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Transactional imports, automatic backups, diagnostics, index coverage checks, and local-only data handling.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24021-FB53-4E3C-89E6-14F6B5FF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The product turns a workbook into a usable local decision-support system.</a:t>
            </a:r>
          </a:p>
        </p:txBody>
      </p:sp>
    </p:spTree>
    <p:extLst>
      <p:ext uri="{BB962C8B-B14F-4D97-AF65-F5344CB8AC3E}">
        <p14:creationId xmlns:p14="http://schemas.microsoft.com/office/powerpoint/2010/main" val="1629625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4F6C6-CDCD-4ABB-B588-6745EEDE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457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NAVIGATION  ·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58182-9F86-4942-B8D7-14893A0A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One admin workspace, six connected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E6FD2-355B-4A96-967C-45D9FCC2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Every page has a clear role in the applicant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A7D06-8F18-4029-BCA3-D6EA38B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Cohort insight and drilldowns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8FC7D-C08E-4C2E-9F36-D7E67898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Search &amp; 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Filters, AI evidence, exports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7D4DA-E9FF-4690-BCC4-78F03EB1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Data Explorer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Sheet views and safe edits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B8C43-C16B-48A8-9CA2-CDF0F70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Directory and holistic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61515-CDB5-48F9-A100-629A660F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Import Center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Workbook, index, backups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39D99-560E-43FA-9960-65D3F65D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06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System 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Status and diagnostics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590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703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930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8044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9E84F-8309-48AC-BB0F-7017FC5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The navigation follows the work: understand → shortlist → inspect → update → protect → verify.</a:t>
            </a:r>
          </a:p>
        </p:txBody>
      </p:sp>
    </p:spTree>
    <p:extLst>
      <p:ext uri="{BB962C8B-B14F-4D97-AF65-F5344CB8AC3E}">
        <p14:creationId xmlns:p14="http://schemas.microsoft.com/office/powerpoint/2010/main" val="306505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12EF5-0054-4284-BC52-C0382FB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INSTALLATION  ·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E02C5-B660-4123-B7D4-1E24F49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One click installs it like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3C642-458E-4084-8D42-90891D18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Windows installer verifies prerequisites and creates a desktop launch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6EE33-596B-41A5-B0C8-06F0E6F2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Run installer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Launch the signed-style setup batch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8D5D4-ED79-4982-B8EF-04716AE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Preflight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Check Windows, Python, disk, and writable paths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0CE54-9632-4DC1-BE91-7FF0C60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Build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Create isolated environment and install locked packages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B79F-8345-4B04-AE7C-EFFFBF9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Install 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Create local folders, config, launcher, and desktop shortcut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37847-F891-4154-A3D1-E76BDDE1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Run health checks and confirm the local URL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4127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3489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2851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213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27346-EB8A-47B6-9A84-9489DCAF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After setup, the user starts WSP Offline System from the desktop icon.</a:t>
            </a:r>
          </a:p>
        </p:txBody>
      </p:sp>
    </p:spTree>
    <p:extLst>
      <p:ext uri="{BB962C8B-B14F-4D97-AF65-F5344CB8AC3E}">
        <p14:creationId xmlns:p14="http://schemas.microsoft.com/office/powerpoint/2010/main" val="1483331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EFD37-F3A8-4886-891F-3C607E7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INSTALLATION  ·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9D26B-699E-4A3C-971D-91B0CDB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Desktop behavior after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524CB-7E6A-44CE-B518-14FD28B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 local web application presented with software-like lifecycle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551A0-6D6E-48EE-98BE-A1C8691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BA3A0-B710-4BFB-A8E9-4782E6B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863C5-F1C3-426F-ADCC-E35AA0B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Single launcher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FC87C-07F9-4455-92CC-12572C4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Starts the isolated Python runtime, waits for the local server, and opens the workspace.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51872-84BE-41B8-9C36-505D966F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55CF9-8557-4B43-B4F0-9E758E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FDE28-3FED-4487-A136-8BE1D4E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Private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BFCEF-4F47-4C8E-9E80-ED514C7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FastAPI, SQLite, model files, exports, logs, and backups stay on the installed computer.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4AA04-ACD7-414D-8EDD-4F0D524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B7620-809D-4403-A48C-708BC707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63B41-0CC1-46BD-B3FD-3A70C4D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Controlled shutdown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8E5B3-CCFE-4552-8FC1-162E1D05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The UI can stop the local service cleanly; startup and port diagnostics explain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28DD0-8079-4BD6-81F9-18C65323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The browser is the interface; the data and processing remain offline on 127.0.0.1.</a:t>
            </a:r>
          </a:p>
        </p:txBody>
      </p:sp>
    </p:spTree>
    <p:extLst>
      <p:ext uri="{BB962C8B-B14F-4D97-AF65-F5344CB8AC3E}">
        <p14:creationId xmlns:p14="http://schemas.microsoft.com/office/powerpoint/2010/main" val="43622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69D37-B0E0-401D-B972-F3A7FB9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7EE4-E1ED-4FDF-8666-2ADB08B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Dashboard: cohort intelligence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7633A-0F57-49FF-8495-BCA914C6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 compact opening view with live population, filter context, and analysis tabs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1d70d80404a81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C50D-40D1-401E-987A-252D1CC8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C32A8-4E37-41C8-80C5-36F86AC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Population and index coverage establish whether insights are 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254BC-83DA-4C43-A5D5-4D4B71BE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 flipV="1">
            <a:off x="6457950" y="1866900"/>
            <a:ext cx="1543050" cy="2047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0AD8D-BD0A-451C-B36A-1C2EDD0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Tabs split the analysis into usable themes instead of one crowded dashboard.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D2748-BAD5-44F3-B02E-43C8ADE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4819650" y="3000375"/>
            <a:ext cx="3181350" cy="309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D4F64-A2E8-426D-AD7A-24FDBDE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Every KPI and chart follows the current cohort filters.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85195-F2FE-45E6-854D-A06B3A4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086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6124575" y="4548188"/>
            <a:ext cx="1876425" cy="6143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96785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65EBE-03CC-4920-B582-1D4CD7B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FD82D-6EE7-415C-94C7-1393F9F7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Multi-select filters that match real admin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F4D7C-1766-4198-B2FE-68769A6D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Faculty, major, class, and status filters support any combination—not only one or all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39cdd72e84ab1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0FB27-D5FD-48B8-B94E-12B5F2F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CA8B6-3F4B-4E5F-B9C4-A164C15F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Searchable multi-select menus allow multiple faculties, majors, or years.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E0018-E348-4FE1-9BC3-B646456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410075" y="2071688"/>
            <a:ext cx="3590925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A67C-67D1-4368-BD8B-79D4336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Apply and clear actions make filter state deliberate and reversible.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C613A-2C44-4E0F-AE6F-1CC0809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81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552950" y="3309938"/>
            <a:ext cx="3448050" cy="547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ABEB6-2889-4D2A-ACBD-A373001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Selected values become persistent chips and update every dashboard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47CE4-100A-4551-B9DD-1F15328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73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5934075" y="1809750"/>
            <a:ext cx="2066925" cy="2738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22880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9BFC9-559C-4862-98C5-23519BC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C8C83-FAD0-476A-B563-364F7D7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Active filter chips keep the cohort definition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FB90F-DC8C-43D4-BCA1-DB3173E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Applied combinations remain explicit, removable, and consistent across every analysis tab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b015ba6894279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4C86B-214A-4E7F-939F-58EB74E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784BC-D3DA-4749-8456-82954D3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Each selected faculty, major, class, or status appears as a removable chip.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E901-AD50-4B50-B430-7C0C20C6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171950" y="2071688"/>
            <a:ext cx="3829050" cy="10906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906D7-9FA9-4A30-8592-BAAB42F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Clear Filters resets the complete cohort definition in one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7EE49-FBD9-4148-A22C-5BE07622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6553200" y="3309938"/>
            <a:ext cx="14478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182C0-4CE9-4519-A1AE-3116AA0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population counts and charts recalculate from the same active combination.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A58CB-9078-4375-8D7C-9C6659E6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410200" y="4548188"/>
            <a:ext cx="259080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16375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A4742-3AF8-4855-8B15-83483F0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429F-6645-452F-B08F-4F83FE66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Candidate pool: composition before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7B763-0B17-4646-8BA9-74FCDA8C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Understand who applied before making placement decisions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87046b3ba4eb0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73424-D369-4832-A858-6FC94AB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C12B-AECA-453D-8681-7DB4BD00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Applicants by major reveal concentration and underrepresented programs.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A437-7155-4DFF-852E-4ADE0E6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05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314825" y="2071688"/>
            <a:ext cx="3686175" cy="1309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558C-AA78-46E4-9881-1308FBE0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Class distribution shows the student-stage mix in the selected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7D0B9-25FA-471D-A14C-0C2EEFF9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6267450" y="3309938"/>
            <a:ext cx="17335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68E70-7873-43D7-879A-146A6B06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Chart values are clickable filters that cascade across the dashboard.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D4255-A9BA-4CE1-8899-9D9888A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2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791075" y="4548188"/>
            <a:ext cx="32099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32101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5587-4B6B-43E9-BE38-70C4DBE2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1A0F8-F229-43C1-BF13-CC873F60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Skills and work interests: applicant signal, not rigid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2A655-E838-40E4-A0F2-2DD76A1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dashboard summarizes messy free text while search retains every original response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5b3959ae248c9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5A8C-A181-40E1-B590-6040EE6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12D7A-B4D8-424E-90F8-9DB7469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Technical skill topics aggregate common capabilities across students.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BAB5F-7187-44E5-ABA8-7258342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171950" y="2071688"/>
            <a:ext cx="382905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C11B6-7B4A-4AF1-B4F2-1A9B3F8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Preferred-work topics expose demand for role families and activities.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22AAB-391E-4AB4-AE23-AE1F9EB5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6267450" y="3048000"/>
            <a:ext cx="173355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378EE-CC5C-42AE-A5EE-B4DB637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Topic labels are dashboard summaries; they do not replace original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D60BB-522E-4E23-9373-D8EE4E64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53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029200" y="4548188"/>
            <a:ext cx="29718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30336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69A84-7902-40ED-8E73-2CE57874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INTELLIGENCE  ·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7D706-AE90-40B0-B6CB-0D182F0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Flexible topics emerge from new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28F8-741A-4B1E-B8E0-BE1B50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system can group rough, misspelled, or novel text without freezing the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81528-209E-45E8-9954-8FC0E5D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Raw answers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Skills, interests, experience,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5B3A9-031D-4FB1-8540-2B69F1B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Normalize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Clean punctuation and obvious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5F3AA-0E1F-4E00-8C36-485F466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Embed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Convert original phrases into semantic vectors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25988-09BD-4AFB-B28A-FC2554E5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Group nearby meanings and surface emerging topics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E0F79-6F07-44A7-96C0-31A9754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Keep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Store labels separately; preserve original responses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4127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3489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2851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213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2469E-CDB6-42A1-AE92-A344A8E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 new unusual answer remains searchable immediately and can influence future topic groups.</a:t>
            </a:r>
          </a:p>
        </p:txBody>
      </p:sp>
    </p:spTree>
    <p:extLst>
      <p:ext uri="{BB962C8B-B14F-4D97-AF65-F5344CB8AC3E}">
        <p14:creationId xmlns:p14="http://schemas.microsoft.com/office/powerpoint/2010/main" val="10777275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EB7FD-2D5C-4568-97ED-0FACAFF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F4145-8E02-4728-A8C1-6C34B10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Funding and logistics: context for equitable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AF9C8-07F8-49FE-A1B6-32EC500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Operational context is visible without pretending it is a placement score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f0425af7849d5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9D008-4D47-47C5-90F3-7816B3C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D0863-0EBA-4F37-9022-4572FF5F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Financial-aid distribution helps administrators understand cohort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B89E6-5D26-4A73-B7F7-03F540F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314825" y="2071688"/>
            <a:ext cx="3686175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A30EA-FBCA-45F4-B8B9-9281659B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Residence indicators support practical scheduling and outreach planning.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17C6A-A8D2-4C02-AABE-88DBF8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6362700" y="3309938"/>
            <a:ext cx="16383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B51B5-791F-43B2-A72C-A7DF45D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These are filters and context—not an automatic judgement of readiness.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0E2A0-2A38-4156-AF56-3FA6B8B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53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029200" y="4548188"/>
            <a:ext cx="29718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07486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7E08C-9E2F-4F30-9F3A-CE7D91C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DASHBOARD  ·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7554-4FC3-4CCA-8B9D-C65FFB4C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Data quality: find records that need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0146C-CF12-4321-A9FD-DAC350D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Completeness and integrity checks expose missing values before search or placement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f6fc73cba48e6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6C4C3-60C4-4106-8B19-6EF8AF71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EEEF5-6888-4493-A3FD-4739AA0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Quality KPIs quantify missing identity, contact, academic, or work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70CC3-9C4B-460D-BFF9-25E0FF7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552950" y="2071688"/>
            <a:ext cx="34480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43E68-3D36-4197-B20D-81E1501D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Breakdowns show which fields or faculties contribute most to gaps.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36F62-34C5-448F-BD6C-B1BDD26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029200" y="3309938"/>
            <a:ext cx="297180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7C136-806D-4023-980F-ED4DBA5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Click-through filters turn a warning into a reviewable student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FC12C-E135-456C-8B9F-E89470E5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981700" y="4548188"/>
            <a:ext cx="2019300" cy="1023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38357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29750-3220-4F27-A322-793816A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SEARCH &amp; MATCH  · 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2DCA-5F20-4274-94A2-CB0DDED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Build a shortlist with transparent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D1A4A-C3F9-4FC7-AC58-5D49CFC8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Structured filters and semantic settings are visible before the query runs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ef005ad9b4759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6F7D7-1984-4C58-BD04-DD34444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30A9-AF97-43B3-956E-B92B900C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Threshold and Top-K tune precision and list size for the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B972A-7E9A-4483-A5D1-642330F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362450" y="2071688"/>
            <a:ext cx="3638550" cy="1071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B0EB0-FAF1-4FE0-B9BF-B6934B3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Traditional filters combine GPA, major, class, aid, dorms, and text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D145F-5106-44A4-9D9A-0FB2E524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552950" y="3309938"/>
            <a:ext cx="3448050" cy="1643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EDAA1-E5CA-458B-9AB7-34836E2B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Sort, order, missing-record handling, reset, and export remain explicit.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E9EE7-836E-4D08-BFD3-204FE71A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6553200" y="4548188"/>
            <a:ext cx="144780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938608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CF6BC-F456-4765-95E4-AFFF627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SEARCH &amp; MATCH  · 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7D8E7-81A1-4135-AF9A-E770ED4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Preferences remember the administrator’s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3165D-542E-4190-B2C8-C2E6F44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Search configuration is auto-saved locally and reused by the Import Center’s Auto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D9D4A-5DE1-433C-8C2D-ECDA6FBC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5620-2AB1-4DEA-B01A-A65A649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B944-E3DD-4AB2-9F30-8FB26707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Automatic local save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DD19D-B959-46F9-9706-B6D92A3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Input, change, and multi-select events persist the full filter payload in browser storage.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3132-1184-4FA6-9FB3-2C82576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AC56B-D78C-4B31-9E6A-B744D684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05459-2BCB-485A-9037-31E99CDC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Return where you left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04A2-DFC7-4201-BC5A-EF5465A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Threshold, Top-K, GPA, majors, classes, sorting, text filters, and missing-row preference restore on 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47C82-2B00-4B59-A3EC-556FFF6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D4F96-B395-438B-B8C1-72E98F46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EXPORT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15938-C54E-468B-BBEA-10C6EF6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Use the same definition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6BFD3-C8DE-4E84-BDD4-935751D3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Auto Export reads the saved payload so exported rows match the administrator’s working cohort.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94C66-7DF6-491B-9769-A6D764B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Saved preferences stay on the local computer and can be cleared at any time.</a:t>
            </a:r>
          </a:p>
        </p:txBody>
      </p:sp>
    </p:spTree>
    <p:extLst>
      <p:ext uri="{BB962C8B-B14F-4D97-AF65-F5344CB8AC3E}">
        <p14:creationId xmlns:p14="http://schemas.microsoft.com/office/powerpoint/2010/main" val="16755424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4815B-80D5-4159-80D6-7CE3AEA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SEARCH &amp; MATCH  · 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4DF0D-9553-4E2A-875A-8AF3284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Semantic search shows progress without exposing chain-of-thought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1B86C-2B6E-4E66-99B5-0BBDBF1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UI reports safe operational stages while the local embedding model works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669d62d394334"/>
          <a:stretch xmlns:a="http://schemas.openxmlformats.org/drawingml/2006/main"/>
        </p:blipFill>
        <p:spPr>
          <a:xfrm xmlns:a="http://schemas.openxmlformats.org/drawingml/2006/main">
            <a:off x="630095" y="1428750"/>
            <a:ext cx="674081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FCF2B-350E-4F45-BF0B-BBD27AE6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BC17A-B20B-4DB0-9EA6-8BA79CD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Three AUB-colored dots and a progress track make the search state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4234-B57E-4465-83DB-A5A9459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6267450" y="2071688"/>
            <a:ext cx="1733550" cy="25193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E9F6D-161B-4BF1-8D9E-AB6CDC19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status copy reports completion time and the number of matches.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C34F5-71DF-4104-807C-1066393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6648450" y="3309938"/>
            <a:ext cx="1352550" cy="1452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1FA47-6CE0-4971-B5DC-70B53E9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interface reports process status—not hidden model reasoning.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0534B-3B0C-49C0-A72A-30A9691F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5124450" y="3028950"/>
            <a:ext cx="2876550" cy="15192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071566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0E3EA-CA93-4957-91AF-FEEF3CE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SEARCH &amp; MATCH  · 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0489-D7E5-4F53-84F3-1F87B515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Every semantic result explains the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04F0-7C0C-4575-9C85-BFEF429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Evidence comes from the student’s untouched application responses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f4cb2c1e440b1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82E33-E18F-43B4-90BC-E908E2A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6AE7D-7107-4EB9-A233-62FD71C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 similarity score makes ranking comparable across the shortlist.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1D78F-EECA-4586-981A-8A6FA6FA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5219700" y="2071688"/>
            <a:ext cx="27813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84DD3-3A5E-40BE-B021-3D82D529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Closest original fields and phrases show why the student matched.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5D5EF-7051-4854-8D63-5C97FEF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6505575" y="3238500"/>
            <a:ext cx="1495425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C1209-5519-426B-964B-D7F7F587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Identity links open the full student profile for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2F283-B061-4BBA-BCA9-2AD0041C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3457575" y="3238500"/>
            <a:ext cx="4543425" cy="1309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954610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D0C0E-590D-4914-9BF5-79AF060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SEARCH &amp; MATCH  · 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ED614-B58C-4CFD-A5B3-32B7DA79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Two search modes, one auditable result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11DC8-6A4E-4A9A-BE77-C656983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Precise filters narrow the pool; semantic evidence finds meaning inside free 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190F5-BAE2-4598-B985-9567F77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Exact filters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SQL over structured student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581C7-E9D5-4CB2-9B22-531EA66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Original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Skills, preferences, experience,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860DC-BFD2-4D8D-AA35-A12AA1C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Local embeddings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Similarity against precomputed vectors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C2DFC-3292-476F-A6FD-5976ABEE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Ranked fields and source phrases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4D4E1-55EA-40C0-BFA1-8DEBCF0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Current result set to Excel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4127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3489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2851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213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A521E-8577-4CB8-AE9E-798AA6A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Grouped dashboard topics never replace the original-text embedding document.</a:t>
            </a:r>
          </a:p>
        </p:txBody>
      </p:sp>
    </p:spTree>
    <p:extLst>
      <p:ext uri="{BB962C8B-B14F-4D97-AF65-F5344CB8AC3E}">
        <p14:creationId xmlns:p14="http://schemas.microsoft.com/office/powerpoint/2010/main" val="20601068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6227F-B803-4D80-BF11-229AA8D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DATA EXPLORER  · 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5AE29-3F31-4A5D-B61E-7491BCE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Explore imported sheets without leaving the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C6F4C-7CAF-46F7-A2F3-0DEBE47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Global search, sheet tabs, row counts, and profile links make the workbook navigable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171426414481f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E509-CCAD-4CC2-A296-AF2A3083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8670A-2739-4778-B31E-5361DB2F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Sheet tabs preserve the workbook’s source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24D6F-C037-452E-81CE-8E12DD90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838700" y="2071688"/>
            <a:ext cx="3162300" cy="2643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9B101-4D03-4E3D-ACB0-C49FCD95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Global search spans visible fields and returns matching rows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F85C5-40FA-421D-BF5B-AF091BE8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0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029200" y="3309938"/>
            <a:ext cx="29718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5CE8F-55D5-487D-A5BA-7EA1D52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Row counts and field counts establish the scale of the active sheet.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DD93A-6D17-4219-AE99-0BAE9A9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1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552950" y="4548188"/>
            <a:ext cx="344805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805769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A5B36-2244-4726-8B67-FCB2523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DATA EXPLORER  · 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1A319-2D64-4E54-8523-837E24E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Controlled editing protects the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8D735-E23E-4BB4-8116-CD118B73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Edit mode exposes only supported changes and keeps cancel/backup behavior visible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e4748504f4a80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28A4-673C-43CE-B56F-89499E8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BE7DF-9FE9-4ED8-B79D-95053224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Exit Edit makes the current editing state impossible to miss.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28AA2-8C87-468E-B81A-0993270A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6743700" y="2071688"/>
            <a:ext cx="1257300" cy="2547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28C98-DC80-4D6D-8660-2336DC69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Save Changes and Cancel create an explicit commit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4D15B-9C0B-4387-B3A4-1C889177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62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7315200" y="3309938"/>
            <a:ext cx="685800" cy="1928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09224-6056-46AD-A1BD-80717576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warning banner explains that direct edits can be replaced by a later import.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CACA2-E0CA-4E6D-BB3D-BF885FB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981575" y="4548188"/>
            <a:ext cx="3019425" cy="671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713532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8A83B-C9BE-41A9-B356-EA6E09C3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DATA EXPLORER  · 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AA41C-F1D5-4BEC-9FF0-839B3B7E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Right-click turns any row into a profile entry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7071B-6C27-4092-B248-708A0C2A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Context actions reduce navigation friction while preserving the current table view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b970aa4e64c05"/>
          <a:stretch xmlns:a="http://schemas.openxmlformats.org/drawingml/2006/main"/>
        </p:blipFill>
        <p:spPr>
          <a:xfrm xmlns:a="http://schemas.openxmlformats.org/drawingml/2006/main">
            <a:off x="630095" y="1428750"/>
            <a:ext cx="674081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797A9-1548-410A-919E-58753683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C645-47F9-44F4-A682-E76E009E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Right-click a student row or identity cell to open the action menu.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EC2AE-A403-489D-B08B-13CCF82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3362325" y="2071688"/>
            <a:ext cx="4638675" cy="1643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82AAA-6AF0-4985-9CD2-2846E6E6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View student profile opens the universal page for that 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AF2A0-72C5-4ABE-9DE4-B74FE9C9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3981450" y="3309938"/>
            <a:ext cx="40195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A9862-B691-4284-ADCF-58427E4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Copy student ID supports quick handoff into another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9EB77-286A-49C8-AD7D-9E92FB49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3933825" y="4238625"/>
            <a:ext cx="406717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860331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BE95A-8D73-4282-AD5E-288C9CB0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857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STUDENT PROFILES  · 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27994-13F2-427C-8A19-53DC5CB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A universal directory for every applicant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BEEDC-6D1A-440B-9CE5-B27293A5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Search or browse the full applicant population, independent of the current dashboard filter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2e42044d74773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41C2B-BB9D-4B11-B92D-A7354822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83AB5-9D9F-47C0-86DC-28472988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Search by name or student ID to find one applicant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09FED-A1CE-4C32-B672-9BCEC34D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81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5029200" y="2071688"/>
            <a:ext cx="29718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0E6B5-07E8-4782-8FE0-24EF072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Directory suggestions summarize identity, major, and student 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B768A-EECA-43F1-9BD5-ABB6FA48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2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029200" y="3309938"/>
            <a:ext cx="2971800" cy="2595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9C43C-D46A-47E7-A12D-F93A178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same universal profile route is available from every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7BBC8-5DBA-44F0-A253-D65DF38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7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6648450" y="4548188"/>
            <a:ext cx="1352550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454255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62CA2-C644-4A18-B554-EDAF80D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857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STUDENT PROFILES  · 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3786C-8B94-41D7-9EDC-663B420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Holistic profile: the whole student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EAC05-2B26-43E0-8A1D-D510F85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 structured narrative replaces horizontal spreadsheet scanning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6673a7e284b0f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71FAC-6A27-4443-B3B2-5DB62F01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DE3E4-5D39-4F81-BB6D-9FBFC4D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Identity, academic context, contact, and record metadata anchor the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53DC-2F0B-43E7-93D3-80A18C0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0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171950" y="2071688"/>
            <a:ext cx="3829050" cy="309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9E6F2-B71A-44DE-B9A7-B354FFB5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Skills and preferences keep both concise summaries and source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677CD-B0B5-4129-8F98-275236D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267325" y="3309938"/>
            <a:ext cx="2733675" cy="690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A2092-ECB4-4F9B-B588-6CCE702E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Actions return to search or navigate related records without losing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C0839-1235-4EB4-9AE0-6693592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6267450" y="1809750"/>
            <a:ext cx="1733550" cy="2738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188207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E7180-6EB1-4DB7-8904-A2391F73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857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STUDENT PROFILES  ·  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3A37B-0223-455C-86FC-EF9CDF9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Details and history make the record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5B4D0-7B17-4885-8F34-F54182A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Experience, language, logistics, and timeline sections explain how the profile evolved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80f231cd2493f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BCE72-D92F-4865-A3FB-848DD03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1C531-0276-4ED2-AA48-DCC48FA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Prior work is displayed when present; missing experience is not treated as failure.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23224-42B1-47FC-8013-03F2C72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171950" y="2071688"/>
            <a:ext cx="382905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1056D-5EDB-43E1-A475-A8FBECDE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Languages, logistics, and application details remain available for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A7487-BB1A-4A1F-90FF-F9408A5F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981700" y="3309938"/>
            <a:ext cx="2019300" cy="309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60B22-205E-41CF-B4A3-71304B8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timeline records import and modification timestamps.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6AB36-6B9E-4599-B2B3-9EE4C683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05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029200" y="4548188"/>
            <a:ext cx="2971800" cy="833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494654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ED511-C8AB-4440-9795-B7FBC68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IMPORT CENTER  ·  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54976-3196-4C6C-9F9C-A3E33A09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Import Center: the operational control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1BFF-A00A-49F2-9F9C-EE99824F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Manual import, watched folders, Auto Export, index coverage, and vault access share one page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5851dae8541fb"/>
          <a:stretch xmlns:a="http://schemas.openxmlformats.org/drawingml/2006/main"/>
        </p:blipFill>
        <p:spPr>
          <a:xfrm xmlns:a="http://schemas.openxmlformats.org/drawingml/2006/main">
            <a:off x="630095" y="1428750"/>
            <a:ext cx="674081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A7A93-AD26-4455-9ADF-79459F1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CABB-E124-45CB-B178-C129E529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Saved filters drive repeatable Auto Export files without rebuilding the query.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0B390-26C3-47C3-A467-A165E3D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552950" y="2071688"/>
            <a:ext cx="3448050" cy="1023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1ABF-DBA5-4470-A20E-44C46B2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watched Drop Folder imports the newest workbook on a timed check.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78A95-4627-4FBC-ABA3-F72D8F6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05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171950" y="3309938"/>
            <a:ext cx="3829050" cy="2071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981DE-68CB-45D4-8A90-BC58DDC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Pipeline status reports validation, backup, mapping, merge, and index stages.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A1F20-D7A4-4611-BFAA-1B31CFF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6648450" y="4548188"/>
            <a:ext cx="135255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602834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FB494-92AA-4114-93DB-B57F73D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IMPORT CENTER  · 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B10BC-29B3-4124-92C9-9617C6C3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Workbook import is a transaction, not a file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4D2F5-CB69-4D34-B375-DDFB89F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Validation and rollback boundaries keep the live database consistent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3D6AA-2C29-459B-B452-F2355A6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Select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Manual upload or watched import folder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0A17E-49A9-4180-AADB-73F65DC4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Read sheets, headers, counts, and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27849-2E1E-4988-B30A-AEF9D4F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Validate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Required tables, IDs, types, and duplicates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8A348-92CB-428E-8CB3-58A958FA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Snapshot database before mutation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0AD26-C46B-4A95-B6DD-2CE7EE1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Commit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Replace current tables, rebuild views, log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BCAEA-FA95-4CE4-8853-2BB6ABC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06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Re-embed changed original text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590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703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930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8044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4B2FC-97ED-430A-AA96-3DD8C34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 failed validation leaves the existing database and vector index untouched.</a:t>
            </a:r>
          </a:p>
        </p:txBody>
      </p:sp>
    </p:spTree>
    <p:extLst>
      <p:ext uri="{BB962C8B-B14F-4D97-AF65-F5344CB8AC3E}">
        <p14:creationId xmlns:p14="http://schemas.microsoft.com/office/powerpoint/2010/main" val="10426411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25718-3856-44BD-8339-DEF32BD2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IMPORT CENTER  ·  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87E3B-7E37-49DD-A0D2-F8A9E72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Index, backup boundaries, and folders explain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30C8-AD46-4F05-82A4-CF58C9CC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lower Import Center documents recovery guarantees and local file handoff paths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bf76f2b74f44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90511-53DD-4520-9B11-1602BEA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8D27E-3BF0-4717-B4A0-3E0DEA8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AI Search Index exposes coverage and the Re-embed All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25466-B962-4F49-87AF-B928236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552950" y="2071688"/>
            <a:ext cx="3448050" cy="2071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E6E54-2C56-4F80-B0FC-0C442560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Pre/post backup, archive, and transaction guarantees sit beside the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07F27-2A4B-4D8A-AE26-B3693AF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314825" y="3309938"/>
            <a:ext cx="3686175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C3029-4F0A-43F1-ADE9-A5055EFB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Import and export folder paths make the local handoff explicit.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CA87D-71C4-4916-A73D-1E42D44C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972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600575" y="4548188"/>
            <a:ext cx="3400425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863956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F5F0A-07B6-478A-8E2F-E6BA258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7240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SEMANTIC INDEX  · 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19D5A-734A-41D9-92AD-80E4FC29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Index coverage is a first-class health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797C3-905F-4E04-A35C-C2EA4B1B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application checks that every current student has an embedding before semantic results are trusted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0CA87-AB90-4681-9B18-DA4939D7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4CE1B-2229-4DFB-8C68-FCCD032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EB223-F771-4E00-8CE4-A8584ABC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Coverage math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6A744-7B47-43A4-9698-47C34D5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Indexed IDs are compared with `students_current`; the UI reports indexed / total and a percentage.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A7A94-007F-42E0-97FD-4B553FA4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21A95-D495-4B48-802F-893D941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9B945-45BE-488B-BC4F-1DE2E0FB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Incremental refresh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70FCB-E6A3-4D81-B428-56A8B6C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Changed or new documents are embedded; stale IDs are removed; the index is saved atomically.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EAFCC-6E3F-4D7F-B0A0-35C7AA5B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A39F-9CDF-45F8-ADD6-C6C5D341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FULL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B637-5378-4D07-8664-9406D9A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Re-embed on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E4297-D1DB-4D54-AFA9-FEA5661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Administrators can request a full rebuild when the model or document recipe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8D969-C6D3-47AE-BF59-AFC84B24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Current audited state: 3,000 / 3,000 students indexed — 100% coverage.</a:t>
            </a:r>
          </a:p>
        </p:txBody>
      </p:sp>
    </p:spTree>
    <p:extLst>
      <p:ext uri="{BB962C8B-B14F-4D97-AF65-F5344CB8AC3E}">
        <p14:creationId xmlns:p14="http://schemas.microsoft.com/office/powerpoint/2010/main" val="15403139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AA1B2-D3E0-42BB-87F7-A9612479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BACKUP VAULT  ·  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DED8C-1CF7-4416-BC5D-EBA291E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Backup Vault makes recovery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C3D7B-FFB3-4F2A-9E21-5FCEC7C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Automatic snapshots can be inspected before a restore is attempted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7878d85874cb6"/>
          <a:stretch xmlns:a="http://schemas.openxmlformats.org/drawingml/2006/main"/>
        </p:blipFill>
        <p:spPr>
          <a:xfrm xmlns:a="http://schemas.openxmlformats.org/drawingml/2006/main">
            <a:off x="630095" y="1428750"/>
            <a:ext cx="674081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72D6F-D64F-49E1-872B-4193AE00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694E5-50AC-451C-AB31-8C7EE63A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Every snapshot lists timestamp, reason, size, and integrity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61FBB-1758-492E-8C6D-8868DC8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933950" y="2071688"/>
            <a:ext cx="306705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C800E-A3E1-4665-9EA9-1EA3A77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Reason badges distinguish pre-import, post-import, manual-edit, and pre-restore backups.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BA142-1BF1-4CB0-8A18-70DB1C49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933950" y="3309938"/>
            <a:ext cx="306705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51A20-F3F5-4411-A0E3-8F44D8A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Integrity is checked; Restore is available per snapshot in the full 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65ED3-F35E-4934-B94E-3B512204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6553200" y="4548188"/>
            <a:ext cx="1447800" cy="500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242665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D3CEC-E1F1-4F57-847C-2A87FB63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BACKUP VAULT  · 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6CFE6-F721-4102-88E0-CA64FFBD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Restore is guarded by verification and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12CBB-00C0-4F49-A243-66C93150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 restore never silently overwrites the live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E2981-9BD4-44C6-8C06-505D834B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Choose 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Select a known snapshot from the vault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574E5-DC41-43D1-B883-1E786D2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Check file presence and SQLite integrity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CE7C-8B87-4FBA-854E-0F6F3C1A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Safety snapshot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Back up the current live database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F4039-2189-44FF-97EF-35DB573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Restore database files through an atomic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9D4A6-D379-4752-934D-9A53092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Reconcile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Reopen database, check schema, refresh index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96FE9-4675-4E0C-B3F9-CCDCCF11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06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Confirm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Report restored source and health result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590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703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930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8044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57B73-E4DA-434D-BE87-6F68C67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The pre-restore snapshot provides a recovery path if the chosen backup is wrong.</a:t>
            </a:r>
          </a:p>
        </p:txBody>
      </p:sp>
    </p:spTree>
    <p:extLst>
      <p:ext uri="{BB962C8B-B14F-4D97-AF65-F5344CB8AC3E}">
        <p14:creationId xmlns:p14="http://schemas.microsoft.com/office/powerpoint/2010/main" val="561770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C1B38-65E2-42F7-ABDC-92EDA49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SYSTEM HEALTH  ·  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3C29-783E-4DAE-AC5E-59D4323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System Health surfaces the runtime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CA46-D8F2-4888-A08F-734CAE5A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Database, model, folders, index, version, and environment are visible without opening a terminal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85a2e0a5f4aff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CEB14-9200-4409-881D-C11E15B6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B95F2-00E9-4778-BB06-081162F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Core service cards make failures and warnings immediately scannable.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D2267-F724-4AE1-9103-D01E155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743450" y="2071688"/>
            <a:ext cx="325755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B04A2-6827-47C6-ABBA-F3B3608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Paths and runtime metadata support on-site troubleshooting.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63BA4-EBB2-47B3-BFCF-7BDE026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5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029200" y="3309938"/>
            <a:ext cx="2971800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B820A-9BBC-42C2-9A0E-0EE4E5C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Diagnostics can be launched from the same operational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EB613-8725-4F3E-8AF7-DD90783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76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 flipV="1">
            <a:off x="6267450" y="1952625"/>
            <a:ext cx="1733550" cy="2595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685074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B9ADE-5B0C-4120-8E4F-711EC25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SYSTEM HEALTH  ·  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3F170-BAC2-4D67-B574-5628745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Diagnostics run as a selectable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5A76B-8554-4223-8948-8710D36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Checks execute independently and report progress so one warning does not hide other results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ff0dfdf504af0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A9004-5013-4EC1-BD7F-4ECA28BE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B28A6-4E2F-40BB-8E5A-531A427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Administrators can run all checks or select a focused subset.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D32F-3E87-4B3B-A987-15E6F49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648200" y="2071688"/>
            <a:ext cx="335280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FAB76-623B-445E-83A7-6FFC68DB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The progress indicator shows which check is running and how many remain.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83EB6-2AAF-4104-90E4-1CBAA4AD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695950" y="3309938"/>
            <a:ext cx="230505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02C0D-0AB9-479C-920D-8293585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Results stay on screen for copying into support or release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6456E-2ED0-47A7-AE2E-D910B89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14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153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4981575" y="4548188"/>
            <a:ext cx="3019425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1538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1107783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08952-020E-4C7B-99E3-1F506015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SYSTEM HEALTH  ·  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96DED-A6E0-4EF6-AF68-80A6EEA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Completed diagnostics separate pass, warning, and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F1AFA-9929-479A-B6E8-C2F074B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audited system passed core checks; the vault age check correctly raised one warning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3bac85a8142be"/>
          <a:stretch xmlns:a="http://schemas.openxmlformats.org/drawingml/2006/main"/>
        </p:blipFill>
        <p:spPr>
          <a:xfrm xmlns:a="http://schemas.openxmlformats.org/drawingml/2006/main">
            <a:off x="381000" y="1820404"/>
            <a:ext cx="7239000" cy="4074441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93B7-48FA-4B43-9065-35BB2F8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3904F-22D5-48DF-9530-360FAC8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Database connectivity and SQLite integrity passed.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2CB14-0C3A-4DAF-B20A-8533A899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600575" y="2071688"/>
            <a:ext cx="3400425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9E74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55FC0-55AE-4C39-A07C-63670E11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Embedding model, semantic search, folders, and 3,000/3,000 index coverage passed.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7F694-EAD5-4B17-9059-6597628F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81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7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5600700" y="3309938"/>
            <a:ext cx="2400300" cy="547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9E7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6BDC4-A9E8-4958-9816-D1013854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Backup integrity passed; age was flagged because the newest snapshot was 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FB1F4-FE04-459A-B1C8-4AF300FA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14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02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28" name=""/>
          <p:cNvCxnSpPr>
            <a:stCxn xmlns:a="http://schemas.openxmlformats.org/drawingml/2006/main" id="12" idx="1"/>
            <a:endCxn xmlns:a="http://schemas.openxmlformats.org/drawingml/2006/main" id="13" idx="6"/>
          </p:cNvCxnSpPr>
          <p:nvPr/>
        </p:nvCxnSpPr>
        <p:spPr>
          <a:xfrm xmlns:a="http://schemas.openxmlformats.org/drawingml/2006/main" flipH="1">
            <a:off x="5600700" y="4548188"/>
            <a:ext cx="240030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9022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397077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1272A-0C3F-47F2-ACB1-4EC0B508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5906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ARCHITECTURE  ·  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A732-9C8B-4A30-8F9D-842FDFF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Local-first architecture keeps student data private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61F9-3BB7-4B82-9824-ECA8739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Every core component runs inside the installed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A8568-FD4B-4FB2-808B-A7AF506B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Excel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Source workbook and watched folder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4F730-159F-48E6-B65E-24092EF2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7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Import 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Normalize, validate, transact,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44D41-CA54-4CD9-BCEF-DED1B9BB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SQLite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Current, missing, imported sheets,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A6FB0-AB30-4F95-9497-BE18057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Routes for UI, data, search,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52CD-473C-445F-856E-61A44E5F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95500"/>
            <a:ext cx="206502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Browser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Admin workspace on 127.0.0.1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4127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3489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2851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2213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48FF1-21CF-4B65-9BD1-E39643D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Semantic model files, vectors, exports, logs, and backups stay beside the local installation.</a:t>
            </a:r>
          </a:p>
        </p:txBody>
      </p:sp>
    </p:spTree>
    <p:extLst>
      <p:ext uri="{BB962C8B-B14F-4D97-AF65-F5344CB8AC3E}">
        <p14:creationId xmlns:p14="http://schemas.microsoft.com/office/powerpoint/2010/main" val="18428796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605CE-A03A-4CB8-98AE-70EC1518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457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OPERATIONS  ·  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583E6-B249-4509-BD1F-3819CAB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A practical daily administrator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8DC32-50B9-47EB-8B8D-5AFFB82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product supports exploration and judgement without automating the human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2A405-1723-465B-9B02-D4C32B2A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Load and validate the newest application workbook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FAD26-E6D2-4AD9-84A4-5FC29356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Confirm 100% index coverage and system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6D794-234D-4D2C-8FF9-EBE3B8D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Understand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Review cohort patterns and data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ECE11-ED88-4E09-B5A0-75532119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Shortlist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Combine filters with semantic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16BC7-79B3-4C23-801C-9723E4E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Inspect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Open holistic profiles and compare source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D8D6F-7305-4B2A-9DF6-C971992B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095500"/>
            <a:ext cx="1682750" cy="1809750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E7B6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06</a:t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Share the current reviewed result set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590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703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9305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804400" y="3000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1538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8A962-DA6D-4C7C-AA80-A09AB36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Back up before material changes; use diagnostics before a presentation or handoff.</a:t>
            </a:r>
          </a:p>
        </p:txBody>
      </p:sp>
    </p:spTree>
    <p:extLst>
      <p:ext uri="{BB962C8B-B14F-4D97-AF65-F5344CB8AC3E}">
        <p14:creationId xmlns:p14="http://schemas.microsoft.com/office/powerpoint/2010/main" val="13689274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5140B-6DE5-46AF-9809-7C73C53E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QUALITY  ·  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2BF1C-6067-4D36-B9A0-CA36A347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Verification and release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5FEF3-C994-4D46-A1E0-FDCED216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The package is designed to be installable, repeatable, and supportable on another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47DD0-C300-47DC-97DD-94B8B06F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810D0-E93A-40CE-8AAE-AA6B315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6A477-93E8-480C-B928-6AC3F82A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Automated test suite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16354-4365-4376-B556-CBAFA97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346 tests cover routes, imports, search, backups, profiles, editing, installer behavior, and regressions.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0966C-A12F-4FCF-A8BF-7C453B2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18194-C6C5-4511-8325-03022FC6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CLEAN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03882-3FED-4EB4-AEB9-7CAA3C9B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Fresh-environment 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2EB7-DB2F-4ED8-88E7-F9223020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 clean virtual environment installs locked requirements and starts the application independently of the development machine.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56946-BE1F-47A9-BA3E-B9470ADB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B51EF-6110-45EB-B38E-2E14650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EBCB5-B678-45C1-944A-5627AC0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Runtime diagnostics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4908-5821-4014-9D76-3CF0161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Eight selectable checks verify database, integrity, model, semantic search, folders, vault, and vector coverage.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48ADA-6B53-4AE3-98A5-86A62F3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Documentation and screenshots are generated from the same repository version as this deck.</a:t>
            </a:r>
          </a:p>
        </p:txBody>
      </p:sp>
    </p:spTree>
    <p:extLst>
      <p:ext uri="{BB962C8B-B14F-4D97-AF65-F5344CB8AC3E}">
        <p14:creationId xmlns:p14="http://schemas.microsoft.com/office/powerpoint/2010/main" val="14621245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7BD0C-231E-4798-BBE2-68AFA84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DOCUMENTATION  ·  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9C0F1-69C0-4A89-9CFF-FE1AA0D5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52238"/>
                </a:solidFill>
              </a:defRPr>
            </a:pPr>
            <a:r>
              <a:rPr sz="2550" b="1" i="0">
                <a:solidFill>
                  <a:srgbClr val="152238"/>
                </a:solidFill>
              </a:rPr>
              <a:t>Documentation follows the same cascade as the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F0C7E-E198-417E-8B98-CE7C7D9F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A reader can move from user action to route, service, storage, and individual source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BD631-2100-4B2F-84AE-D4CDE4C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83C87-C83B-4CE9-9873-B5AF904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CEF8E-2885-40DF-9482-A3E1931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User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7E879-D868-4ADD-9623-96654D5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Page-by-page instructions, feature behavior, Excel placement, imports, search, profiles, backups, and health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B5D31-A86C-4170-A1C1-994608C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668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12E75-22F7-47CC-A209-123545E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D7F0A-CB77-41DA-9C71-DC0C5F9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Features &amp; code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34182-F293-4CAF-BCE1-35222419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384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UI action → API endpoint → service function → SQLite/filesystem side effects → related tests.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4C6B0-5DFF-423C-A298-395D5DF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668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C9897-0452-42CB-B7F8-741BAB4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18383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BAA0C-E24E-4FDA-83F2-C55FB80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574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108 code reference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B5A69-5C62-4A05-9A76-926D6B1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6384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One Markdown page per code/config file with symbols, dependencies, routes, runtime role, and source link.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79CBF-D6CE-4188-9632-43ABD7E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861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66DD9-EFD4-4F83-8B46-2198A171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09ED6-538D-4927-9BA2-ABFD898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Data and API 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83560-D9DA-4920-84FD-2EF9C96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Tables, canonical fields, request/response surfaces, folders, exports, and operational files.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F0799-E07D-4A3D-95B5-7FBC444D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6861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673E1-BA33-4A7B-A04F-C99C4BE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8576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E3CE1-9BFF-4768-A4F8-64225761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42767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Architecture guide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0ED60-458B-4990-AD86-7806BF47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46577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System boundaries, component relationships, lifecycle, semantic pipeline, and backup 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FF747-2984-4811-92B0-A89FDBF2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686175"/>
            <a:ext cx="3606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EB1D8-3C9F-4577-85B5-6752BC9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57625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4E9"/>
          </a:solidFill>
          <a:ln xmlns:a="http://schemas.openxmlformats.org/drawingml/2006/main" w="9525">
            <a:solidFill>
              <a:srgbClr val="F4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1538"/>
                </a:solidFill>
              </a:defRPr>
            </a:pPr>
            <a:r>
              <a:rPr sz="900" b="1">
                <a:solidFill>
                  <a:srgbClr val="8A1538"/>
                </a:solidFill>
              </a:rPr>
              <a:t>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F1B39-EE9A-4AB2-9404-054C4DCD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4276725"/>
            <a:ext cx="322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238"/>
                </a:solidFill>
              </a:defRPr>
            </a:pPr>
            <a:r>
              <a:rPr sz="1575" b="1" i="0">
                <a:solidFill>
                  <a:srgbClr val="152238"/>
                </a:solidFill>
              </a:rPr>
              <a:t>Operations &amp; 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566FF-C743-4385-8F2C-94C83C6A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4657725"/>
            <a:ext cx="322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Installation, privacy model, backups, diagnostics, troubleshooting, testing, and release checklist.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39FC3-95AB-4F4C-9F8E-79B0F03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1538"/>
                </a:solidFill>
              </a:defRPr>
            </a:pPr>
            <a:r>
              <a:rPr sz="1200" b="1" i="0">
                <a:solidFill>
                  <a:srgbClr val="8A1538"/>
                </a:solidFill>
              </a:rPr>
              <a:t>Start at docs/README.md; every major guide links to the code-reference index.</a:t>
            </a:r>
          </a:p>
        </p:txBody>
      </p:sp>
    </p:spTree>
    <p:extLst>
      <p:ext uri="{BB962C8B-B14F-4D97-AF65-F5344CB8AC3E}">
        <p14:creationId xmlns:p14="http://schemas.microsoft.com/office/powerpoint/2010/main" val="2131028722"/>
      </p:ext>
    </p:extLst>
  </p:cSld>
</p:sld>
</file>

<file path=ppt/slides/slide3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52238"/>
            </a:gs>
            <a:gs pos="58000">
              <a:srgbClr val="1D2940"/>
            </a:gs>
            <a:gs pos="100000">
              <a:srgbClr val="4D1530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45F15-F785-4CB6-B294-11F69740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CLOSING  ·  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39F68-5052-4AB4-A21C-DA4720A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A complete local platform—not just an Excel viewer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8AC6-E728-4504-9B25-1444D6D2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E3EE"/>
                </a:solidFill>
              </a:defRPr>
            </a:pPr>
            <a:r>
              <a:rPr sz="1200" b="0" i="0">
                <a:solidFill>
                  <a:srgbClr val="DCE3EE"/>
                </a:solidFill>
              </a:rPr>
              <a:t>WSP Offline System combines usability, explainable intelligence, operational safety, and deployability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F5C6-A7D3-4EF5-A329-A335935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Understand the cohort.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Find relevant applicants.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Keep the evidence.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Protect the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53899-3775-485E-BA0F-0676DC80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6471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ONE-CLICK INSTALL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100%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3,000 / 3,000 INDEXED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108 CODE GUIDES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D3C07-6F00-43EF-B478-6181647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CE3EE"/>
                </a:solidFill>
              </a:defRPr>
            </a:pPr>
            <a:r>
              <a:rPr sz="1425" b="0" i="0">
                <a:solidFill>
                  <a:srgbClr val="DCE3EE"/>
                </a:solidFill>
              </a:rPr>
              <a:t>Ready for administrator training, technical handoff, case-study presentation, and installation on a new computer.</a:t>
            </a:r>
          </a:p>
        </p:txBody>
      </p:sp>
    </p:spTree>
    <p:extLst>
      <p:ext uri="{BB962C8B-B14F-4D97-AF65-F5344CB8AC3E}">
        <p14:creationId xmlns:p14="http://schemas.microsoft.com/office/powerpoint/2010/main" val="2091244968"/>
      </p:ext>
    </p:extLst>
  </p:cSld>
</p:sld>
</file>

<file path=ppt/theme/theme1.xml><?xml version="1.0" encoding="utf-8"?>
<a:theme xmlns:a="http://schemas.openxmlformats.org/drawingml/2006/main" name="ChatGPT">
  <a:themeElements>
    <a:clrScheme name="AUB Work Study">
      <a:dk1>
        <a:srgbClr val="0F172A"/>
      </a:dk1>
      <a:lt1>
        <a:srgbClr val="FFFFFF"/>
      </a:lt1>
      <a:dk2>
        <a:srgbClr val="152238"/>
      </a:dk2>
      <a:lt2>
        <a:srgbClr val="D9E0E8"/>
      </a:lt2>
      <a:accent1>
        <a:srgbClr val="8A1538"/>
      </a:accent1>
      <a:accent2>
        <a:srgbClr val="152238"/>
      </a:accent2>
      <a:accent3>
        <a:srgbClr val="1E9E74"/>
      </a:accent3>
      <a:accent4>
        <a:srgbClr val="D79022"/>
      </a:accent4>
      <a:accent5>
        <a:srgbClr val="3873B9"/>
      </a:accent5>
      <a:accent6>
        <a:srgbClr val="A6194B"/>
      </a:accent6>
      <a:hlink>
        <a:srgbClr val="3873B9"/>
      </a:hlink>
      <a:folHlink>
        <a:srgbClr val="A6194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B Work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2026-08-17T13:56:50.2730000Z</dcterms:created>
  <dcterms:modified xsi:type="dcterms:W3CDTF">2026-08-17T13:56:50.2730000Z</dcterms:modified>
</coreProperties>
</file>